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Merriweather" panose="00000500000000000000" pitchFamily="2" charset="0"/>
      <p:regular r:id="rId9"/>
    </p:embeddedFont>
    <p:embeddedFont>
      <p:font typeface="Merriweather Bold" panose="020B0604020202020204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1896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 grid with small circl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1143057"/>
            <a:ext cx="4571886" cy="4571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706140"/>
            <a:ext cx="6180181" cy="1221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Agent Simulation Evaluation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291700" y="2205930"/>
            <a:ext cx="6180181" cy="3370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rigorous method to know when our generative agents can be trusted</a:t>
            </a:r>
            <a:endParaRPr lang="en-US" sz="5300" dirty="0"/>
          </a:p>
        </p:txBody>
      </p:sp>
      <p:sp>
        <p:nvSpPr>
          <p:cNvPr id="5" name="Shape 2"/>
          <p:cNvSpPr/>
          <p:nvPr/>
        </p:nvSpPr>
        <p:spPr>
          <a:xfrm>
            <a:off x="5291700" y="5854998"/>
            <a:ext cx="2014289" cy="296863"/>
          </a:xfrm>
          <a:prstGeom prst="roundRect">
            <a:avLst>
              <a:gd name="adj" fmla="val 22116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08874" y="5913537"/>
            <a:ext cx="2389525" cy="179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BEAUTY &amp; WELLBEING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03617" y="5854998"/>
            <a:ext cx="3971032" cy="296863"/>
          </a:xfrm>
          <a:prstGeom prst="roundRect">
            <a:avLst>
              <a:gd name="adj" fmla="val 22116"/>
            </a:avLst>
          </a:prstGeom>
          <a:noFill/>
          <a:ln w="6350">
            <a:solidFill>
              <a:srgbClr val="609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520792" y="5913537"/>
            <a:ext cx="4346268" cy="179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CEO &amp; HEAD OF CONSUMER INSIGHTS BRIEFING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87995"/>
            <a:ext cx="10752067" cy="482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Evaluation of Agent Simulations Matters Now</a:t>
            </a:r>
            <a:endParaRPr lang="en-US" sz="3000" dirty="0"/>
          </a:p>
        </p:txBody>
      </p:sp>
      <p:pic>
        <p:nvPicPr>
          <p:cNvPr id="3" name="Image 0" descr="People greeting custom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17129" y="2299593"/>
            <a:ext cx="4462403" cy="29142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9526" y="1559223"/>
            <a:ext cx="351860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Context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959526" y="1916013"/>
            <a:ext cx="3518606" cy="863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 are building AI agents from in-depth interviews with </a:t>
            </a: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young business professionals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who are a priority growth segment that works long hours and travels frequently.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959526" y="2895699"/>
            <a:ext cx="351860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Intended Uses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59526" y="3252490"/>
            <a:ext cx="3518606" cy="72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7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Early consumer hypotheses</a:t>
            </a:r>
            <a:endParaRPr lang="en-US" sz="1200" dirty="0"/>
          </a:p>
          <a:p>
            <a:pPr marL="243840" indent="-243840" algn="l">
              <a:lnSpc>
                <a:spcPct val="117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Product &amp; channel exploration</a:t>
            </a:r>
            <a:endParaRPr lang="en-US" sz="1200" dirty="0"/>
          </a:p>
          <a:p>
            <a:pPr marL="243840" indent="-243840" algn="l">
              <a:lnSpc>
                <a:spcPct val="117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Faster research cycles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59526" y="4097139"/>
            <a:ext cx="351860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Commercial Risk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9526" y="4453930"/>
            <a:ext cx="3518606" cy="1511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fluent agent that </a:t>
            </a: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invents bulk-buying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erases indifference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or </a:t>
            </a: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misses a home-vs-travel constraint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can lead to the wrong product, assortment, or messaging decision. Polished answers that sound like the target consumer while changing the consumer's real decision logic.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a Multi-Layer Evaluation Is Required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769" y="2449884"/>
            <a:ext cx="6110194" cy="582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Risk of Incorrect Evaluation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9814" y="3632398"/>
            <a:ext cx="5158472" cy="1126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Traditional methods capture only semantic patterns and not consumer behavioral patterns. This can lead to incorrect user preferences, erases constraints, or fabricates values the real consumer never expressed.</a:t>
            </a: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607" y="1021854"/>
            <a:ext cx="5250624" cy="52507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46906"/>
            <a:ext cx="10752067" cy="1221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the Evaluation Revealed on 30 Held-Out Pairs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05537" y="2337098"/>
            <a:ext cx="3257766" cy="644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0.86</a:t>
            </a:r>
            <a:endParaRPr lang="en-US" sz="5050" dirty="0"/>
          </a:p>
        </p:txBody>
      </p:sp>
      <p:sp>
        <p:nvSpPr>
          <p:cNvPr id="4" name="Text 2"/>
          <p:cNvSpPr/>
          <p:nvPr/>
        </p:nvSpPr>
        <p:spPr>
          <a:xfrm>
            <a:off x="719814" y="3218755"/>
            <a:ext cx="3429311" cy="3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BERTScore F1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19814" y="3635375"/>
            <a:ext cx="3429311" cy="304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Strong topical coverage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66816" y="2337098"/>
            <a:ext cx="3257865" cy="644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2.9</a:t>
            </a:r>
            <a:endParaRPr lang="en-US" sz="5050" dirty="0"/>
          </a:p>
        </p:txBody>
      </p:sp>
      <p:sp>
        <p:nvSpPr>
          <p:cNvPr id="7" name="Text 5"/>
          <p:cNvSpPr/>
          <p:nvPr/>
        </p:nvSpPr>
        <p:spPr>
          <a:xfrm>
            <a:off x="4381093" y="3218755"/>
            <a:ext cx="3429410" cy="3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Holistic Fidelity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381093" y="3635375"/>
            <a:ext cx="3429410" cy="304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 of 5 — only moderate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194" y="2337098"/>
            <a:ext cx="3257766" cy="644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+75%</a:t>
            </a:r>
            <a:endParaRPr lang="en-US" sz="5050" dirty="0"/>
          </a:p>
        </p:txBody>
      </p:sp>
      <p:sp>
        <p:nvSpPr>
          <p:cNvPr id="10" name="Text 8"/>
          <p:cNvSpPr/>
          <p:nvPr/>
        </p:nvSpPr>
        <p:spPr>
          <a:xfrm>
            <a:off x="8042471" y="3218755"/>
            <a:ext cx="3429311" cy="3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Length Inflation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042471" y="3635375"/>
            <a:ext cx="3429311" cy="304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answers far more verbose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9125" y="4148832"/>
            <a:ext cx="5419093" cy="2062163"/>
          </a:xfrm>
          <a:prstGeom prst="roundRect">
            <a:avLst>
              <a:gd name="adj" fmla="val 6822"/>
            </a:avLst>
          </a:prstGeom>
          <a:solidFill>
            <a:srgbClr val="609D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4482" y="4334371"/>
            <a:ext cx="5028380" cy="3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Where Agents Work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4482" y="4825206"/>
            <a:ext cx="5028380" cy="1218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High-involvement profiles with distinctive product knowledge (e.g., specific Korean skincare stack and channels) are reproduced with good fidelity — </a:t>
            </a:r>
            <a:r>
              <a:rPr lang="en-US" sz="15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holistic 3.7/5</a:t>
            </a:r>
            <a:r>
              <a:rPr lang="en-US" sz="1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40515" y="4334371"/>
            <a:ext cx="5137716" cy="3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Where Agents Fail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40515" y="4825206"/>
            <a:ext cx="5137716" cy="1218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Low-involvement, convenience-driven profiles are systematically rewritten: bulk-buying invented, uncertainty erased, travel constraints ignored — </a:t>
            </a:r>
            <a:r>
              <a:rPr lang="en-US" sz="15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holistic 2.3–2.6/5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72306"/>
            <a:ext cx="10752067" cy="1221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Recommendation: Adopt This Evaluation Standard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9814" y="2264866"/>
            <a:ext cx="10752067" cy="609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Adopt the four-layer evaluation as the firm's </a:t>
            </a:r>
            <a:r>
              <a:rPr lang="en-US" sz="15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quality gate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for all human simulations before they inform product, messaging, or assortment decisions.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3083024"/>
            <a:ext cx="3583989" cy="7815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5171" y="4050109"/>
            <a:ext cx="3193276" cy="3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Immediate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15171" y="4466729"/>
            <a:ext cx="3193276" cy="1218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Apply the method to the current agent cohort. Flag any profile scoring </a:t>
            </a:r>
            <a:r>
              <a:rPr lang="en-US" sz="15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&lt;3.0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on holistic fidelity for human review.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803" y="3083024"/>
            <a:ext cx="3583989" cy="7815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99160" y="4050109"/>
            <a:ext cx="3193276" cy="3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Next 60 Days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4499160" y="4466729"/>
            <a:ext cx="3193276" cy="152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Enrich grounding interviews with bulk, travel, and indifference probes. Add generation constraints that preserve uncertainty.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7793" y="3083024"/>
            <a:ext cx="3584088" cy="7815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83149" y="4050109"/>
            <a:ext cx="3193375" cy="3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Ongoing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083149" y="4466729"/>
            <a:ext cx="3193375" cy="1218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Require multi-layer evaluation scores in every simulation release. Track fidelity by involvement segment.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717252"/>
            <a:ext cx="6180181" cy="109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Appendix Available on Request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291700" y="2032695"/>
            <a:ext cx="6180181" cy="660896"/>
          </a:xfrm>
          <a:prstGeom prst="roundRect">
            <a:avLst>
              <a:gd name="adj" fmla="val 11111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5568" y="2226568"/>
            <a:ext cx="5792444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Full Quantitative Tables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291700" y="2842121"/>
            <a:ext cx="6180181" cy="660896"/>
          </a:xfrm>
          <a:prstGeom prst="roundRect">
            <a:avLst>
              <a:gd name="adj" fmla="val 11111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5568" y="3035995"/>
            <a:ext cx="5792444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Qualitative Coding Notes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91700" y="3651548"/>
            <a:ext cx="6180181" cy="660896"/>
          </a:xfrm>
          <a:prstGeom prst="roundRect">
            <a:avLst>
              <a:gd name="adj" fmla="val 11111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5568" y="3845421"/>
            <a:ext cx="5792444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Technical Report (2 pages)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291700" y="4460974"/>
            <a:ext cx="6180181" cy="660896"/>
          </a:xfrm>
          <a:prstGeom prst="roundRect">
            <a:avLst>
              <a:gd name="adj" fmla="val 11111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5568" y="4654848"/>
            <a:ext cx="5792444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Detailed Person-Level Examples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553928" y="5456238"/>
            <a:ext cx="5917953" cy="51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evaluation method turns </a:t>
            </a:r>
            <a:r>
              <a:rPr lang="en-US" sz="135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"the agent sounds human"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into </a:t>
            </a:r>
            <a:r>
              <a:rPr lang="en-US" sz="135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"we know exactly where the agent can and cannot be trusted."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291700" y="5289054"/>
            <a:ext cx="19050" cy="851694"/>
          </a:xfrm>
          <a:prstGeom prst="roundRect">
            <a:avLst>
              <a:gd name="adj" fmla="val 49999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389</Words>
  <Application>Microsoft Office PowerPoint</Application>
  <PresentationFormat>Widescreen</PresentationFormat>
  <Paragraphs>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Merriweather</vt:lpstr>
      <vt:lpstr>Merriweather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Gollapudi, Prabhu Nithin</cp:lastModifiedBy>
  <cp:revision>9</cp:revision>
  <dcterms:created xsi:type="dcterms:W3CDTF">2026-09-12T12:03:53Z</dcterms:created>
  <dcterms:modified xsi:type="dcterms:W3CDTF">2026-09-12T12:17:36Z</dcterms:modified>
</cp:coreProperties>
</file>